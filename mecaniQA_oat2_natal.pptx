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Poppi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regular.fntdata"/><Relationship Id="rId14" Type="http://schemas.openxmlformats.org/officeDocument/2006/relationships/slide" Target="slides/slide9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oppi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h445a274feb98c1e7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h445a274feb98c1e7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445a274feb98c1e7_1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h445a274feb98c1e7_1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h445a274feb98c1e7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h445a274feb98c1e7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273" y="179361"/>
            <a:ext cx="2182950" cy="12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05725" y="370300"/>
            <a:ext cx="5907900" cy="8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Centro Universitário de Excelência</a:t>
            </a:r>
            <a:endParaRPr b="1" i="0" sz="2000" u="none" cap="none" strike="noStrik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pt-BR" sz="20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Sistemas de Informação</a:t>
            </a:r>
            <a:endParaRPr b="1" i="0" sz="2000" u="none" cap="none" strike="noStrik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3695800"/>
            <a:ext cx="9144000" cy="12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Autores:</a:t>
            </a:r>
            <a:r>
              <a:rPr b="0" i="0" lang="pt-BR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pt-BR">
                <a:latin typeface="Poppins"/>
                <a:ea typeface="Poppins"/>
                <a:cs typeface="Poppins"/>
                <a:sym typeface="Poppins"/>
              </a:rPr>
              <a:t>Igor Sena Hagge,</a:t>
            </a: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Gabriel de Souza Nascimento,Pedro Henrique Freitas Couto,Victor Tadeu Araújo Augusto,João Roberto Santos Cardoso,Daniel Queiroga Santana Martins,Isan da Silva Borges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pt-BR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0" i="0" lang="pt-BR" sz="14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	   </a:t>
            </a:r>
            <a:r>
              <a:rPr b="0" i="0" lang="pt-BR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br>
              <a:rPr b="0" i="0" lang="pt-BR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0" i="0" lang="pt-BR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0" y="1531950"/>
            <a:ext cx="9144000" cy="177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pt-BR" sz="3600">
                <a:latin typeface="Poppins"/>
                <a:ea typeface="Poppins"/>
                <a:cs typeface="Poppins"/>
                <a:sym typeface="Poppins"/>
              </a:rPr>
              <a:t>mecaniQA-natal: Notebook OAT2 </a:t>
            </a:r>
            <a:endParaRPr b="1" i="0" sz="36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3214925" y="4764900"/>
            <a:ext cx="30000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Itabuna</a:t>
            </a:r>
            <a:r>
              <a:rPr b="0" i="0" lang="pt-BR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2026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0" y="0"/>
            <a:ext cx="3231900" cy="514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rgbClr val="F3F3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192150" y="482800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pt-BR" sz="3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1" i="0" sz="36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192150" y="3313225"/>
            <a:ext cx="28476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objetivo dessa apresentação é demonstrar a estruturação, análise de dados e execução do pipeline contido no notebook mecaniQA_oat2_natal.ipynb do repositório mecaniQA-natal.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34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Visão Geral: </a:t>
            </a:r>
            <a:r>
              <a:rPr b="0" i="0" lang="pt-BR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0" i="0" lang="pt-BR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Contextualização do repositório danmrtx/mecaniQA-natal e escopo do projeto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420000" y="2000025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Carga e Configuração: 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Importação das dependências, bibliotecas e ambiente de execução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3420000" y="333000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Preparação e Análise: </a:t>
            </a: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Tratamento temporal, preenchimento de dados e decomposição da série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120000" y="6700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Execução e Resultados: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pt-BR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Análise dos outputs, processamento da OAT2 e avaliação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" name="Google Shape;72;p14"/>
          <p:cNvSpPr txBox="1"/>
          <p:nvPr/>
        </p:nvSpPr>
        <p:spPr>
          <a:xfrm>
            <a:off x="6225750" y="2034750"/>
            <a:ext cx="2246700" cy="10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pt-BR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5. Considerações Finais: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pt-BR" sz="1200" u="none" cap="none" strike="noStrike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Conclusões obtidas, desafios encontrados e referências </a:t>
            </a:r>
            <a:endParaRPr b="0" i="0" sz="1200" u="none" cap="none" strike="noStrike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Visão Geral do Projeto</a:t>
            </a:r>
            <a:endParaRPr b="1" i="0" sz="3200" u="none" cap="none" strike="noStrik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2250" y="-2646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311700" y="1442100"/>
            <a:ext cx="4546200" cy="3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Tópicos do assunto: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• Contexto do Repositório: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Repositório: danmrtx/mecaniQA-natal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Foco na atividade avaliativa OAT 2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Notebook: mecaniQA_oat2_natal.ipynb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• Escopo do Trabalho: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Análise e previsão de demanda de serviços mecânicos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Dataset mecaniQA: registros temporais de Trocas de Óleo e Manutenção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Modelagem preditiva baseada em histórico temporal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2439550" y="4653975"/>
            <a:ext cx="432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mecaniQA-natal: Análise e Processamento do Notebook OAT2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3050" y="1442100"/>
            <a:ext cx="3981301" cy="262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Setup do Ambiente e Dependências </a:t>
            </a:r>
            <a:endParaRPr b="1" i="0" sz="3200" u="none" cap="none" strike="noStrik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2250" y="-2646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311700" y="1442100"/>
            <a:ext cx="4546200" cy="31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Itens para discussão: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• Ambiente de Execução: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Ambiente Jupyter / Google Colab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Execução sequencial do pipeline de dados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• Bibliotecas Essenciais: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Análise e manipulação: pandas e numpy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Visualização gráfica: matplotlib.pyplot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Modelagem temporal: statsmodels (seasonal_decompose)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• Carga dos Dados: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Importação de mecaniqa_dataset.csv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Conversão da coluna 'Data' para datetime e definição como índice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>
                <a:latin typeface="Poppins"/>
                <a:ea typeface="Poppins"/>
                <a:cs typeface="Poppins"/>
                <a:sym typeface="Poppins"/>
              </a:rPr>
              <a:t>  - Preenchimento de nulos com ffill()</a:t>
            </a:r>
            <a:endParaRPr sz="16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2439550" y="4653975"/>
            <a:ext cx="432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mecaniQA-natal: Análise e Processamento do Notebook OAT2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9850" y="1422113"/>
            <a:ext cx="3981300" cy="2602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pt-BR" sz="3200" u="none" cap="none" strike="noStrike">
                <a:solidFill>
                  <a:srgbClr val="000000"/>
                </a:solidFill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Preparação e Limpeza</a:t>
            </a:r>
            <a:endParaRPr b="1" i="0" sz="3200" u="none" cap="none" strike="noStrik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2439550" y="4653975"/>
            <a:ext cx="4326600" cy="8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mecaniQA-natal: Análise e Processamento do Notebook OAT2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6275" y="1058200"/>
            <a:ext cx="3807274" cy="338524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/>
        </p:nvSpPr>
        <p:spPr>
          <a:xfrm>
            <a:off x="128925" y="1243375"/>
            <a:ext cx="45303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Itens para discussão: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Decomposição da Série (Trocas_Oleo):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Modelo aditivo com período semanal (period=7)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Componentes Identificados: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Tendência (Trend): flutuações de demanda ao longo de 2024 e 2025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Sazonalidade (Seasonal): padrão cíclico constante a cada 7 dias (dias úteis vs. fins de semana)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Resíduos (Resid): ocorrência pontual de outliers/picos no início de 2024</a:t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8" name="Google Shape;108;p18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pt-BR" sz="3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Preparação e Limpeza</a:t>
            </a:r>
            <a:endParaRPr b="1" sz="32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sz="32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9" name="Google Shape;10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8050" y="-24197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223950" y="1613075"/>
            <a:ext cx="4009500" cy="19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Pontos de interesse: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• Criação de Lags (Defasagens):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  - Lags de 1 a 3 dias para 'Trocas_Oleo' e 'Manutencao_Motor'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  - Captura do impacto de manutenções recentes na demanda atual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• Janelas Rolantes (Rolling Windows):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  - Médias e desvios móveis com janelas de 3, 7 e 14 dias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  - Eliminação de data leakage com aplicação de .shift(1)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• Estruturação de Treino: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  - Separação entre preditores (X_train) e alvo (y_train: target_trocas_oleo)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59">
                <a:latin typeface="Poppins"/>
                <a:ea typeface="Poppins"/>
                <a:cs typeface="Poppins"/>
                <a:sym typeface="Poppins"/>
              </a:rPr>
              <a:t>  - Base estruturada com 710 registros e 15 features</a:t>
            </a:r>
            <a:endParaRPr sz="859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859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0" y="4653975"/>
            <a:ext cx="9144000" cy="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mecaniQA-natal: Análise e Processamento do Notebook OAT2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851" y="1082063"/>
            <a:ext cx="4280799" cy="35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298050" y="999175"/>
            <a:ext cx="8515500" cy="24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pt-BR" sz="895">
                <a:latin typeface="Poppins"/>
                <a:ea typeface="Poppins"/>
                <a:cs typeface="Poppins"/>
                <a:sym typeface="Poppins"/>
              </a:rPr>
              <a:t>Pontos de interesse:</a:t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pt-BR" sz="895">
                <a:latin typeface="Poppins"/>
                <a:ea typeface="Poppins"/>
                <a:cs typeface="Poppins"/>
                <a:sym typeface="Poppins"/>
              </a:rPr>
              <a:t>• Matriz de Features Pronta:</a:t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pt-BR" sz="895">
                <a:latin typeface="Poppins"/>
                <a:ea typeface="Poppins"/>
                <a:cs typeface="Poppins"/>
                <a:sym typeface="Poppins"/>
              </a:rPr>
              <a:t>  - Incorporação de variáveis de calendário: dia da semana, mês e dia do ano</a:t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pt-BR" sz="895">
                <a:latin typeface="Poppins"/>
                <a:ea typeface="Poppins"/>
                <a:cs typeface="Poppins"/>
                <a:sym typeface="Poppins"/>
              </a:rPr>
              <a:t>  - Histórico de defasagens e tendências suavizadas prontas para treino</a:t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t/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pt-BR" sz="895">
                <a:latin typeface="Poppins"/>
                <a:ea typeface="Poppins"/>
                <a:cs typeface="Poppins"/>
                <a:sym typeface="Poppins"/>
              </a:rPr>
              <a:t>• Validação dos Registros:</a:t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pt-BR" sz="895">
                <a:latin typeface="Poppins"/>
                <a:ea typeface="Poppins"/>
                <a:cs typeface="Poppins"/>
                <a:sym typeface="Poppins"/>
              </a:rPr>
              <a:t>  - Remoção de valores inconsistentes/NaN após as janelas móveis</a:t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3"/>
              <a:buFont typeface="Arial"/>
              <a:buNone/>
            </a:pPr>
            <a:r>
              <a:rPr lang="pt-BR" sz="895">
                <a:latin typeface="Poppins"/>
                <a:ea typeface="Poppins"/>
                <a:cs typeface="Poppins"/>
                <a:sym typeface="Poppins"/>
              </a:rPr>
              <a:t>  - Dados consistentes para aplicação de modelos de Machine Learning (Regressão / Séries Temporais)</a:t>
            </a:r>
            <a:endParaRPr sz="895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t/>
            </a:r>
            <a:endParaRPr sz="89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9" name="Google Shape;119;p19"/>
          <p:cNvSpPr txBox="1"/>
          <p:nvPr/>
        </p:nvSpPr>
        <p:spPr>
          <a:xfrm>
            <a:off x="340050" y="181525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highlight>
                  <a:srgbClr val="FFFFFF"/>
                </a:highlight>
                <a:latin typeface="Poppins"/>
                <a:ea typeface="Poppins"/>
                <a:cs typeface="Poppins"/>
                <a:sym typeface="Poppins"/>
              </a:rPr>
              <a:t>Base de Dados Processada</a:t>
            </a:r>
            <a:endParaRPr b="1" i="0" sz="3200" u="none" cap="none" strike="noStrike">
              <a:solidFill>
                <a:srgbClr val="000000"/>
              </a:solidFill>
              <a:highlight>
                <a:srgbClr val="FFFFFF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0" name="Google Shape;1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9"/>
          <p:cNvSpPr txBox="1"/>
          <p:nvPr/>
        </p:nvSpPr>
        <p:spPr>
          <a:xfrm>
            <a:off x="2439550" y="4653975"/>
            <a:ext cx="43266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mecaniQA-natal: Análise e Processamento do Notebook OAT2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00" y="3049375"/>
            <a:ext cx="8839199" cy="120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8" name="Google Shape;128;p20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Considerações Finais</a:t>
            </a:r>
            <a:endParaRPr b="1" sz="32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9" name="Google Shape;1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2439550" y="4653975"/>
            <a:ext cx="43266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mecaniQA-natal: Análise e Processamento do Notebook OAT2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0"/>
          <p:cNvSpPr txBox="1"/>
          <p:nvPr/>
        </p:nvSpPr>
        <p:spPr>
          <a:xfrm>
            <a:off x="95850" y="1799675"/>
            <a:ext cx="9048300" cy="24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Conclusão do Desenvolvimento: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O pipeline do notebook mecaniQA_oat2_natal.ipynb atendeu aos requisitos da OAT2, tratando o histórico mecânico e estruturando variáveis preditivas eficazes.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Aprendizados e Desafios: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Tratamento de lacunas e outliers no histórico de atendimentos mecânicos.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Importância do ajuste correto de defasagens temporais (lags) para evitar vazamento de dados (data leakage).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Trabalhos Futuros: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Teste de algoritmos de Machine Learning (XGBoost, Random Forest, ARIMA/Prophet).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Desenvolvimento de dashboard operacional para planejamento de estoque de óleo e peças da oficina.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7" name="Google Shape;137;p21"/>
          <p:cNvSpPr txBox="1"/>
          <p:nvPr/>
        </p:nvSpPr>
        <p:spPr>
          <a:xfrm>
            <a:off x="349650" y="370300"/>
            <a:ext cx="84639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pt-BR" sz="3200">
                <a:solidFill>
                  <a:schemeClr val="dk1"/>
                </a:solidFill>
                <a:highlight>
                  <a:schemeClr val="lt1"/>
                </a:highlight>
                <a:latin typeface="Poppins"/>
                <a:ea typeface="Poppins"/>
                <a:cs typeface="Poppins"/>
                <a:sym typeface="Poppins"/>
              </a:rPr>
              <a:t>Referências</a:t>
            </a:r>
            <a:endParaRPr b="1" sz="3200">
              <a:solidFill>
                <a:schemeClr val="dk1"/>
              </a:solidFill>
              <a:highlight>
                <a:schemeClr val="lt1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9200" y="95525"/>
            <a:ext cx="1823100" cy="10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2439550" y="4653975"/>
            <a:ext cx="4326600" cy="1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pt-BR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mecaniQA-natal: Análise e Processamento do Notebook OAT2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114300" marR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8700" y="1586075"/>
            <a:ext cx="9048300" cy="26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Referências do projeto: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Repositório Oficial do Projeto: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danmrtx/mecaniQA-natal (Arquivo mecaniQA_oat2_natal.ipynb). Disponível em: https://github.com/danmrtx/mecaniQA-natal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Documentação e Ferramentas: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Python Software Foundation. Documentação da Linguagem Python.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Pandas Development Team. Pandas: powerful Python data analysis toolkit.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Project Jupyter. Documentação do ecossistema Jupyter Notebook.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• Instituição de Ensino: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59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  - UNEX – Centro Universitário de Excelência. Colegiado de Sistemas de Informação.</a:t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9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